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68" r:id="rId15"/>
    <p:sldId id="271" r:id="rId16"/>
    <p:sldId id="273" r:id="rId17"/>
    <p:sldId id="275" r:id="rId18"/>
    <p:sldId id="272" r:id="rId19"/>
    <p:sldId id="276" r:id="rId20"/>
    <p:sldId id="277" r:id="rId21"/>
    <p:sldId id="281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0"/>
    <p:restoredTop sz="94621"/>
  </p:normalViewPr>
  <p:slideViewPr>
    <p:cSldViewPr snapToGrid="0">
      <p:cViewPr varScale="1">
        <p:scale>
          <a:sx n="108" d="100"/>
          <a:sy n="108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06BED9-4C89-344B-AB77-EE2969CFCF27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EA2A5-0759-2844-971B-D35A2C695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3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DCB90-7B6B-9CBC-4BAC-45DA3FAAE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21C9E-7DDA-3D9E-1E03-486EB6121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718C1-7D82-5406-470B-6F107BAD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9D94-4971-6549-A262-3C605C6A3026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48044-F53D-11A0-F9DF-597F1BAE3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30B9D-2342-2AB7-A93A-27CC8AB4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74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8D3E-0EF6-EFD1-F103-D2F5EA3D1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C54AD-4F3B-4A57-32AF-39D627D39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B485D-2188-413F-8685-FB1D5E92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13DF-FEED-0047-9A05-56FC89F15338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B0724-888A-8EA4-503F-20B454EB6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78C92-9583-6256-1BA6-048A3313F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9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E643-C531-227B-374C-8754D78AD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40F0B-741B-1886-731F-E8E4E78CA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32F3F-B427-5526-4E7C-501141A35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F935A-00B5-8548-A971-3011F7BD6FB7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5E469-0B97-4D8D-27C5-769AD747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83420-DCAA-F764-3F7C-A41D90BC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388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D74D3-F375-5412-B449-A09985488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98187-3529-A88F-E8A3-3E3A264B2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B417D-47E8-0CF8-C6D1-B04E287DD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713E3-9287-1C71-D367-B5054120B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B32C0-A2AF-7E45-95E8-DD19A7EBE4D1}" type="datetime1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A9756-E110-F5BE-75B2-58104B2E5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28B7A-5868-F5B6-4FE5-F3DF683B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59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E3D9D-DA89-5F91-4486-577CD635B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BC178-28EE-9884-54E9-2A3411A7E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51715-2733-EE6A-B1C8-1D3AC8D4B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17ECF8-3029-D3E0-7EA5-B9EFE2ECD1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22FF2B-1F59-7A08-F73E-E02EA8BEF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788EF6-BAFB-3AC6-071F-DCB6376E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46ED-7058-8045-B0F1-21907315EF9A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D39CF-ECBA-F16F-300B-F9C3F9C38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F7A1DC-5812-738E-0EE7-2F3037CD4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71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3A62-3B2C-DE15-94E2-B74BC88FF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9115A0-41EA-CCED-D5FA-776BE266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878B8-3253-2F4F-BFB4-792C2B1D8531}" type="datetime1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6EBFDA-B971-A3A9-32A6-317B60147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907CE-8AFF-9669-DD67-55632D4D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2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ED19E0-3161-A43E-EE39-0164E8B54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8B097-F56F-E54E-B2D7-C1852297DE7B}" type="datetime1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89614B-2B86-DCA8-3E13-7757E2CCE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4D07D-6BFC-4E2F-9B6A-02066B20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9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E38DB-38CC-B50D-D29D-6C1744134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A9FAD-61C7-5CA5-AFA5-9D50244E6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853D0-4495-447A-8309-C58EAD3B8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411E0-0061-FECC-663A-EC291586E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D2FBC-D84A-9A4E-80F5-14878EFE7832}" type="datetime1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BF78E-14F4-4246-B5C6-2524D03D0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83E09-368F-4095-EBA3-A4BC7A9DD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73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336B0-AD87-1B3C-9CE0-1DECAB6D4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874CCB-B235-32E5-FC66-660F8707D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6720D-15B9-17EC-6125-21C5A1228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B2ACE-C7AA-3958-D160-3838FE4F7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43041-701D-BE4D-8982-A972F8F80E28}" type="datetime1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BEC2C-AF85-3304-A518-98922F3B5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B01B6-C03B-20BF-20E0-8A7F5EF1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49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A1986-324D-062A-3B28-1E342857E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33DEE-697F-51C2-C0CA-C282D7C78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29272-2209-7190-EC13-1C7EBBB8F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C738-FAEE-C747-A5E4-8563AE1F2DB3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2E12B-A2C8-BACD-35F9-BD5B05B4D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67304-0C88-C2A5-D6C1-F7DA96700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495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1ADAC9-71AD-6459-CDDA-4370FE731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7E5204-60C6-1A7D-E547-7328943DF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BC0F1-0F06-D99E-F135-4A3AA03BE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3A960-ABFF-8643-A90A-75B0C739F242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05C62-B3F6-38A0-8202-91107F9E5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2168A-6470-6C34-74FB-6C1DF843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361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02CF2F-6CFD-DAAE-A55E-09DA1175D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A8C6D-F02B-6920-6038-E9FA5E66D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7FCA8-BD46-C750-4D67-560AA87AB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75957A-8E5E-6148-B21E-C28139184591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A451D-B003-7AA9-F471-7C13F5B10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DEC3B-5648-B2EC-3893-3DBD3AB1E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B02235-2CA7-444E-9E54-40D4C32B8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826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0BDBDC-A22B-EBF3-CFE0-43E6391F5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Some Numerical Methods for Time-Dependent PDEs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49B38-9D7E-8B54-62B6-967102FC1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Michael Potts</a:t>
            </a:r>
          </a:p>
          <a:p>
            <a:pPr algn="l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20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B11D7A-C049-5A13-F3DE-6E0F96926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Intro and Motivation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5F0EBEF-170E-19D0-60C4-9A8366559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320634"/>
            <a:ext cx="7184517" cy="5874893"/>
          </a:xfrm>
        </p:spPr>
        <p:txBody>
          <a:bodyPr anchor="ctr">
            <a:normAutofit/>
          </a:bodyPr>
          <a:lstStyle/>
          <a:p>
            <a:r>
              <a:rPr lang="en-US" sz="2400" dirty="0"/>
              <a:t>PDEs model physical phenomena such as diffusion, wave propagation, and countless other things.</a:t>
            </a:r>
          </a:p>
          <a:p>
            <a:r>
              <a:rPr lang="en-US" sz="2400" dirty="0"/>
              <a:t>Analytical solutions are often unavailable due to nonlinearities and complex boundary conditions</a:t>
            </a:r>
          </a:p>
          <a:p>
            <a:r>
              <a:rPr lang="en-US" sz="2400" dirty="0"/>
              <a:t>Numerical methods are therefore essential for approximating solutions and understanding system behavior</a:t>
            </a:r>
          </a:p>
          <a:p>
            <a:r>
              <a:rPr lang="en-US" sz="2400" dirty="0"/>
              <a:t>We will examine two approaches for time-dependent PDEs:</a:t>
            </a:r>
          </a:p>
          <a:p>
            <a:pPr lvl="1"/>
            <a:r>
              <a:rPr lang="en-US" b="1" dirty="0"/>
              <a:t>Method of Lines</a:t>
            </a:r>
            <a:endParaRPr lang="en-US" dirty="0"/>
          </a:p>
          <a:p>
            <a:pPr lvl="1"/>
            <a:r>
              <a:rPr lang="en-US" b="1" dirty="0"/>
              <a:t>Exponential Time Difference RK4</a:t>
            </a:r>
          </a:p>
          <a:p>
            <a:r>
              <a:rPr lang="en-US" sz="2400" dirty="0"/>
              <a:t>Together, these methods provide a foundation for numerically studying a wide range of PDEs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7990B-A104-EB4F-67BD-03577D41B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653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9CD271-BF3F-6362-5C9C-ED88B4D25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Method of Lines: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18F5EB-BA5D-727F-8AB6-6B71D1DCA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9350" y="1866853"/>
                <a:ext cx="11732645" cy="4652549"/>
              </a:xfrm>
            </p:spPr>
            <p:txBody>
              <a:bodyPr anchor="ctr">
                <a:noAutofit/>
              </a:bodyPr>
              <a:lstStyle/>
              <a:p>
                <a:r>
                  <a:rPr lang="en-US" sz="3200" b="1" dirty="0"/>
                  <a:t>Method of Lines</a:t>
                </a:r>
                <a:r>
                  <a:rPr lang="en-US" sz="3200" dirty="0"/>
                  <a:t> combines numeric differentiation (spatial discretization) with ODE solvers</a:t>
                </a:r>
              </a:p>
              <a:p>
                <a:r>
                  <a:rPr lang="en-US" sz="3200" dirty="0"/>
                  <a:t>It requires the PDE to be written as a system that is </a:t>
                </a:r>
                <a:r>
                  <a:rPr lang="en-US" sz="3200" b="1" dirty="0"/>
                  <a:t>first-order in time</a:t>
                </a:r>
                <a:r>
                  <a:rPr lang="en-US" sz="3200" dirty="0"/>
                  <a:t>, with the time derivative isolated</a:t>
                </a:r>
              </a:p>
              <a:p>
                <a:r>
                  <a:rPr lang="en-US" sz="3200" dirty="0"/>
                  <a:t>Converts the PDE into a </a:t>
                </a:r>
                <a:r>
                  <a:rPr lang="en-US" sz="3200" b="1" dirty="0"/>
                  <a:t>system of coupled ODEs</a:t>
                </a:r>
                <a:r>
                  <a:rPr lang="en-US" sz="3200" dirty="0"/>
                  <a:t> in the remaining spatial variables</a:t>
                </a:r>
              </a:p>
              <a:p>
                <a:r>
                  <a:rPr lang="en-US" sz="3200" dirty="0"/>
                  <a:t>We can see how it works through applying it to the 1D heat equation.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32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18F5EB-BA5D-727F-8AB6-6B71D1DCA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9350" y="1866853"/>
                <a:ext cx="11732645" cy="4652549"/>
              </a:xfrm>
              <a:blipFill>
                <a:blip r:embed="rId2"/>
                <a:stretch>
                  <a:fillRect l="-1297" t="-272" r="-757" b="-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C4155-E445-C65C-7DC5-28FCC2014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65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66B6D5-68E0-FF71-CB73-C143D0B973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29553"/>
                <a:ext cx="10515600" cy="504741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    The first step is to discretize over our spatial coordinates.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smtClean="0"/>
                        <m:t>Let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our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spatial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domain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range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from</m:t>
                      </m:r>
                      <m:r>
                        <m:rPr>
                          <m:nor/>
                        </m:rPr>
                        <a:rPr lang="en-US" i="0" smtClean="0"/>
                        <m:t> 0 </m:t>
                      </m:r>
                      <m:r>
                        <m:rPr>
                          <m:nor/>
                        </m:rPr>
                        <a:rPr lang="en-US" i="0" smtClean="0"/>
                        <m:t>to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L</m:t>
                      </m:r>
                      <m:r>
                        <m:rPr>
                          <m:nor/>
                        </m:rPr>
                        <a:rPr lang="en-US" i="0" smtClean="0"/>
                        <m:t>. </m:t>
                      </m:r>
                      <m:r>
                        <m:rPr>
                          <m:nor/>
                        </m:rPr>
                        <a:rPr lang="en-US" i="0" smtClean="0"/>
                        <m:t>Let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n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be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the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number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of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discretized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points</m:t>
                      </m:r>
                      <m:r>
                        <m:rPr>
                          <m:nor/>
                        </m:rPr>
                        <a:rPr lang="en-US" i="0" smtClean="0"/>
                        <m:t>.</m:t>
                      </m:r>
                    </m:oMath>
                  </m:oMathPara>
                </a14:m>
                <a:endParaRPr lang="en-US" i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smtClean="0"/>
                        <m:t>Thus</m:t>
                      </m:r>
                      <m:r>
                        <m:rPr>
                          <m:nor/>
                        </m:rPr>
                        <a:rPr lang="en-US" i="0" smtClean="0"/>
                        <m:t>, </m:t>
                      </m:r>
                      <m:r>
                        <m:rPr>
                          <m:nor/>
                        </m:rPr>
                        <a:rPr lang="en-US" i="0" smtClean="0"/>
                        <m:t>our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domain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points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become</m:t>
                      </m:r>
                      <m:r>
                        <a:rPr lang="en-US" i="1" smtClean="0"/>
                        <m:t> 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0,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2 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m:rPr>
                          <m:lit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66B6D5-68E0-FF71-CB73-C143D0B973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29553"/>
                <a:ext cx="10515600" cy="5047410"/>
              </a:xfrm>
              <a:blipFill>
                <a:blip r:embed="rId2"/>
                <a:stretch>
                  <a:fillRect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5AFA410-8E2E-5681-CDD7-B46D03227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019" y="4001294"/>
            <a:ext cx="7343961" cy="267244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ADD108-C395-C2DF-24AD-36EF8E96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88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845A-2A19-0465-7B97-DFB76CD3A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3896F-27E2-06B9-2778-0808DD210C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i="0" dirty="0">
                    <a:latin typeface="Cambria Math" panose="02040503050406030204" pitchFamily="18" charset="0"/>
                  </a:rPr>
                  <a:t>Then, we must discretize our solution over those points. </a:t>
                </a:r>
              </a:p>
              <a:p>
                <a:pPr marL="0" indent="0">
                  <a:buNone/>
                </a:pPr>
                <a:endParaRPr lang="en-US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Let</m:t>
                      </m:r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where</m:t>
                      </m:r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3896F-27E2-06B9-2778-0808DD210C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D435A55-6AB8-C70B-446E-5E2DE3D55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019" y="4001294"/>
            <a:ext cx="7343961" cy="267244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EC442-6F81-2CF3-137B-A9E8CA144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05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7F359E-F356-7ED8-9696-1915FE817F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5781" y="450938"/>
                <a:ext cx="11561523" cy="57260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Now, we must approximate our second order spatial derivative with a stencil. Let h be our step size.</a:t>
                </a:r>
              </a:p>
              <a:p>
                <a:pPr marL="0" indent="0">
                  <a:buNone/>
                </a:pPr>
                <a:r>
                  <a:rPr lang="en-US" dirty="0"/>
                  <a:t>Around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we approximate our derivative as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+16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 err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dirty="0" err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−30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 err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dirty="0" err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+16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 err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dirty="0" err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  <m:sSup>
                          <m:sSup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</a:p>
              <a:p>
                <a:pPr marL="0" indent="0">
                  <a:buNone/>
                </a:pPr>
                <a:r>
                  <a:rPr lang="en-US" dirty="0"/>
                  <a:t>Moving left or right by a step of size h is equivalent to moving left or right by an index in our discretized solution set. So, we obtain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+16</m:t>
                          </m:r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−30</m:t>
                          </m:r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+16</m:t>
                          </m:r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-1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-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sSup>
                            <m:sSup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dirty="0"/>
                  <a:t>As our discrete derivative.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7F359E-F356-7ED8-9696-1915FE817F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5781" y="450938"/>
                <a:ext cx="11561523" cy="5726026"/>
              </a:xfrm>
              <a:blipFill>
                <a:blip r:embed="rId2"/>
                <a:stretch>
                  <a:fillRect l="-1098" t="-1770" r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4A62C-2E37-C77C-ACC7-9CE96FDA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714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A81A48FF-36A9-2378-5C04-46C993ECC2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1145" y="676275"/>
                <a:ext cx="11273425" cy="55006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Thus, we can put this result into the heat equation and obtain an equation for the time derivative of each point in our solution as a function of the points around it.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-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 + 16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- 30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+ 16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 -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^2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represents an entire coupled system of ODEs. At this point, we are able to churn this through an integrator and get an approximate solution to our system. </a:t>
                </a:r>
              </a:p>
            </p:txBody>
          </p:sp>
        </mc:Choice>
        <mc:Fallback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A81A48FF-36A9-2378-5C04-46C993ECC2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145" y="676275"/>
                <a:ext cx="11273425" cy="5500688"/>
              </a:xfrm>
              <a:blipFill>
                <a:blip r:embed="rId2"/>
                <a:stretch>
                  <a:fillRect l="-1125" t="-1843" r="-1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18F1E-20FC-45A8-0240-8B4D7FDDE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10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82A04-66CE-6AA5-4771-9342C9D2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Method of Lines: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C0704-1366-03BA-96EB-418E9E21E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254" y="1716066"/>
            <a:ext cx="11423737" cy="4285489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3200" dirty="0"/>
              <a:t>The procedure that was outlined generalizes to different kinds of problems and higher dimensions.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Now we get to see what interesting simulations this method can produce!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Since they are so common in intro courses for PDEs, the two we will test here are the 2D heat and wave equation.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AB9F5-6503-F00E-2102-4CC1FC32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51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eat_Eqn_Periodic">
            <a:hlinkClick r:id="" action="ppaction://media"/>
            <a:extLst>
              <a:ext uri="{FF2B5EF4-FFF2-40B4-BE49-F238E27FC236}">
                <a16:creationId xmlns:a16="http://schemas.microsoft.com/office/drawing/2014/main" id="{375CF30B-00EA-B4C3-D0A9-0D41E642B9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69461" y="0"/>
            <a:ext cx="9144000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D61E2-8F7A-604B-95DF-33014BFC4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ave_Eqn_Periodic">
            <a:hlinkClick r:id="" action="ppaction://media"/>
            <a:extLst>
              <a:ext uri="{FF2B5EF4-FFF2-40B4-BE49-F238E27FC236}">
                <a16:creationId xmlns:a16="http://schemas.microsoft.com/office/drawing/2014/main" id="{F955B2E6-71D0-1195-1888-4C6DD6B8229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16605" y="0"/>
            <a:ext cx="9144834" cy="6858000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BE92B-D60D-D85F-1E6C-1E296D3B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70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ave_Eqn_Slit">
            <a:hlinkClick r:id="" action="ppaction://media"/>
            <a:extLst>
              <a:ext uri="{FF2B5EF4-FFF2-40B4-BE49-F238E27FC236}">
                <a16:creationId xmlns:a16="http://schemas.microsoft.com/office/drawing/2014/main" id="{387CA0EC-6B40-4A09-663A-ACB311CE6F66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66291" y="0"/>
            <a:ext cx="9144834" cy="6858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13FA7-A472-C4BD-EAB0-108A75227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58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6D3693-780F-1B88-7182-D996156F4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Kuramoto-Sivashinsky Equation (KSE)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816A8-B725-5A4E-BA0D-E3B0B8641E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1666" y="1597432"/>
                <a:ext cx="11047955" cy="4690633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3600" dirty="0"/>
                  <a:t>There is no simulation on this slide.</a:t>
                </a:r>
              </a:p>
              <a:p>
                <a:pPr marL="0" indent="0">
                  <a:buNone/>
                </a:pPr>
                <a:r>
                  <a:rPr lang="en-US" sz="3600" dirty="0"/>
                  <a:t>Here is what this PDE looks like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- </m:t>
                          </m:r>
                          <m:r>
                            <m:rPr>
                              <m:sty m:val="p"/>
                            </m:rPr>
                            <a:rPr lang="en-US" sz="3600" i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- </m:t>
                      </m:r>
                      <m:sSup>
                        <m:s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600" i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36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- </m:t>
                      </m:r>
                      <m:sSup>
                        <m:s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600" i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  <a:p>
                <a:pPr marL="0" indent="0">
                  <a:buNone/>
                </a:pPr>
                <a:r>
                  <a:rPr lang="en-US" sz="3600" dirty="0"/>
                  <a:t>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600" i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en-US" sz="3600" i="1">
                          <a:latin typeface="Cambria Math" panose="02040503050406030204" pitchFamily="18" charset="0"/>
                        </a:rPr>
                        <m:t>+2 </m:t>
                      </m:r>
                      <m:sSubSup>
                        <m:sSub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3600" i="1">
                          <a:latin typeface="Cambria Math" panose="02040503050406030204" pitchFamily="18" charset="0"/>
                        </a:rPr>
                        <m:t> </m:t>
                      </m:r>
                      <m:sSubSup>
                        <m:sSub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36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US" sz="3600" dirty="0"/>
              </a:p>
              <a:p>
                <a:pPr marL="0" indent="0">
                  <a:buNone/>
                </a:pPr>
                <a:r>
                  <a:rPr lang="en-US" sz="3600" dirty="0"/>
                  <a:t>Is the </a:t>
                </a:r>
                <a:r>
                  <a:rPr lang="en-US" sz="3600" dirty="0" err="1"/>
                  <a:t>Bilaplacian</a:t>
                </a:r>
                <a:endParaRPr lang="en-US" sz="3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816A8-B725-5A4E-BA0D-E3B0B8641E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1666" y="1597432"/>
                <a:ext cx="11047955" cy="4690633"/>
              </a:xfrm>
              <a:blipFill>
                <a:blip r:embed="rId2"/>
                <a:stretch>
                  <a:fillRect l="-1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9E475-B329-96AF-DCAF-1C79B400E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86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822BA2-D349-2105-3926-3BC9BC231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Why no simulation yet?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0DDD0-0AC4-4CD1-BD57-59FBC76F9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27" y="1622744"/>
            <a:ext cx="10628723" cy="4940717"/>
          </a:xfrm>
        </p:spPr>
        <p:txBody>
          <a:bodyPr anchor="ctr">
            <a:normAutofit/>
          </a:bodyPr>
          <a:lstStyle/>
          <a:p>
            <a:r>
              <a:rPr lang="en-US" dirty="0"/>
              <a:t>High-order derivatives (e.g., fourth-order) and nonlinear terms make the PDE difficult to handle</a:t>
            </a:r>
          </a:p>
          <a:p>
            <a:r>
              <a:rPr lang="en-US" dirty="0"/>
              <a:t>Discretizing high order operators like the </a:t>
            </a:r>
            <a:r>
              <a:rPr lang="en-US" b="1" dirty="0" err="1"/>
              <a:t>bilaplacian</a:t>
            </a:r>
            <a:r>
              <a:rPr lang="en-US" dirty="0"/>
              <a:t> is complex, especially due to mixed derivative terms</a:t>
            </a:r>
          </a:p>
          <a:p>
            <a:r>
              <a:rPr lang="en-US" dirty="0"/>
              <a:t>The equation is </a:t>
            </a:r>
            <a:r>
              <a:rPr lang="en-US" b="1" dirty="0"/>
              <a:t>stiff</a:t>
            </a:r>
            <a:r>
              <a:rPr lang="en-US" dirty="0"/>
              <a:t>, requiring careful numerical treatment</a:t>
            </a:r>
          </a:p>
          <a:p>
            <a:r>
              <a:rPr lang="en-US" dirty="0"/>
              <a:t>Basic approaches like the </a:t>
            </a:r>
            <a:r>
              <a:rPr lang="en-US" b="1" dirty="0"/>
              <a:t>Method of Lines</a:t>
            </a:r>
            <a:r>
              <a:rPr lang="en-US" dirty="0"/>
              <a:t> may be insufficient for a reasonable discretization.</a:t>
            </a:r>
          </a:p>
          <a:p>
            <a:r>
              <a:rPr lang="en-US" dirty="0"/>
              <a:t>A more sophisticated method is needed for:</a:t>
            </a:r>
          </a:p>
          <a:p>
            <a:pPr lvl="1"/>
            <a:r>
              <a:rPr lang="en-US" sz="2800" dirty="0"/>
              <a:t>Accurate handling of high-order spatial derivatives</a:t>
            </a:r>
          </a:p>
          <a:p>
            <a:pPr lvl="1"/>
            <a:r>
              <a:rPr lang="en-US" sz="2800" dirty="0"/>
              <a:t>Stable and efficient time stepping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29955-C4F4-5188-A074-F6262D048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095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D11881-9403-3446-5130-FBDF0841E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Exponential Time Difference RK4: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9982B5-8685-405A-BC77-D19CC1CC01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9349" y="2116899"/>
                <a:ext cx="10747330" cy="4741100"/>
              </a:xfrm>
            </p:spPr>
            <p:txBody>
              <a:bodyPr anchor="ctr"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3600" dirty="0"/>
                  <a:t>To simulate the KSE, we will construct an algorithm known as Exponential Time Difference RK4 (ETDRK4) by considering PDEs of the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𝐿𝑢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3600" dirty="0"/>
              </a:p>
              <a:p>
                <a:pPr marL="0" indent="0">
                  <a:buNone/>
                </a:pPr>
                <a:r>
                  <a:rPr lang="en-US" sz="3600" dirty="0"/>
                  <a:t>Where L is a linear operator and N(</a:t>
                </a:r>
                <a:r>
                  <a:rPr lang="en-US" sz="3600" dirty="0" err="1"/>
                  <a:t>u,t</a:t>
                </a:r>
                <a:r>
                  <a:rPr lang="en-US" sz="3600" dirty="0"/>
                  <a:t>) is the nonlinear term</a:t>
                </a:r>
              </a:p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:r>
                  <a:rPr lang="en-US" sz="3600" dirty="0"/>
                  <a:t>It is a pseudo spectral method that is designed for handling stiff, high order problems.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9982B5-8685-405A-BC77-D19CC1CC01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9349" y="2116899"/>
                <a:ext cx="10747330" cy="4741100"/>
              </a:xfrm>
              <a:blipFill>
                <a:blip r:embed="rId2"/>
                <a:stretch>
                  <a:fillRect l="-1771" t="-5080" r="-2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9EF85-40D7-1220-FCB0-21CC6797F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29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355439-61F0-F632-FE9C-30765D2116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51770"/>
                <a:ext cx="10515600" cy="532519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3600" dirty="0"/>
                  <a:t>The derivation start with defining an integrating factor.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𝐿𝑡</m:t>
                          </m:r>
                        </m:sup>
                      </m:sSup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3600" dirty="0"/>
              </a:p>
              <a:p>
                <a:pPr marL="0" indent="0">
                  <a:buNone/>
                </a:pPr>
                <a:r>
                  <a:rPr lang="en-US" sz="3600" dirty="0"/>
                  <a:t>Recall that the operator exponential is itself an operator. We seek an update formula for u. We do so by first differentiating w.</a:t>
                </a:r>
              </a:p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𝐿𝑡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3600" dirty="0"/>
              </a:p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:r>
                  <a:rPr lang="en-US" sz="3600" dirty="0"/>
                  <a:t>(Some product rule steps have been omitted)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355439-61F0-F632-FE9C-30765D2116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51770"/>
                <a:ext cx="10515600" cy="5325193"/>
              </a:xfrm>
              <a:blipFill>
                <a:blip r:embed="rId2"/>
                <a:stretch>
                  <a:fillRect l="-1809" t="-3571" r="-1809" b="-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9CEFE-BD0D-51EE-06AF-45B9CC357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22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0E8BF-F45A-5061-AEE4-D87C63544E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5781"/>
                <a:ext cx="10515600" cy="61252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Now, we integrate over a time step going from t to </a:t>
                </a:r>
                <a:r>
                  <a:rPr lang="en-US" dirty="0" err="1"/>
                  <a:t>t+h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aln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nary>
                      <m:r>
                        <a:rPr lang="en-US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By subbing in for our definition of w, rearranging terms, and making a small change of variables, we obtain the exact change in u over this time step.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𝐿h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𝐿h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p>
                          </m:sSup>
                        </m:e>
                      </m:nary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gives us an exact time step formula for a discretized solution.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p>
                          </m:sSup>
                        </m:e>
                      </m:nary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0E8BF-F45A-5061-AEE4-D87C63544E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5781"/>
                <a:ext cx="10515600" cy="6125227"/>
              </a:xfrm>
              <a:blipFill>
                <a:blip r:embed="rId2"/>
                <a:stretch>
                  <a:fillRect l="-1206" t="-14700" b="-30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7B604-5A39-C6C3-DF7F-2853927D6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04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BA594-38BD-E0A8-2B62-37AAEAEBE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Some Things Before Moving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E388F-E8B9-FBC2-4D18-4950DD1D3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22744"/>
            <a:ext cx="10759857" cy="5235255"/>
          </a:xfrm>
        </p:spPr>
        <p:txBody>
          <a:bodyPr anchor="ctr">
            <a:noAutofit/>
          </a:bodyPr>
          <a:lstStyle/>
          <a:p>
            <a:r>
              <a:rPr lang="en-US" sz="3200" dirty="0"/>
              <a:t>Note some that we never discretized the operator L. In fact, if there is no nonlinear term, then this method will be exact. </a:t>
            </a:r>
          </a:p>
          <a:p>
            <a:r>
              <a:rPr lang="en-US" sz="3200" dirty="0"/>
              <a:t>We have not done anything different from the construction of other exponential time differencing methods. The distinction comes in how you approximate the integral of the nonlinear term.</a:t>
            </a:r>
          </a:p>
          <a:p>
            <a:r>
              <a:rPr lang="en-US" sz="3200" dirty="0"/>
              <a:t> Hence the name, ETDRK4 uses an RK4-like quadrature to approximate it in terms of our discretization variables.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447C1-0F35-E084-E693-91041064C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11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FAB00-862A-A2C3-40E2-A452EEFDC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Quadrature Coefficients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0B2F2A-F259-25B4-884A-855FF81962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​=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−4−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 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4−3 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 </m:t>
                                      </m:r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 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−2+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​=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−4−3 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 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 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4−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m:rPr>
                              <m:lit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m:rPr>
                                  <m:lit/>
                                </m:rP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m:rPr>
                              <m:lit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m:rPr>
                                  <m:lit/>
                                </m:rP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m:rPr>
                              <m:lit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m:rPr>
                                  <m:lit/>
                                </m:rP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2 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Proof: The Original Paper my Cox and Matthews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0B2F2A-F259-25B4-884A-855FF81962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1086" b="-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98766-846A-89BE-4202-A084C5273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B711A-C454-BA1D-4C95-28CD5045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Final Update Formula!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941966-33CB-0269-6673-7E5F9B6685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3984" y="1753644"/>
                <a:ext cx="11110585" cy="4247911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+2 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Times New Roman" panose="02020603050405020304" pitchFamily="18" charset="0"/>
                  </a:rPr>
                  <a:t>At this point, the theory for this method has technically been fully developed. You can, hypothetically, go and compute all the update terms by expanding these operator exponentials. </a:t>
                </a:r>
              </a:p>
              <a:p>
                <a:pPr marL="0" indent="0">
                  <a:buNone/>
                </a:pPr>
                <a:r>
                  <a:rPr lang="en-US" dirty="0">
                    <a:cs typeface="Times New Roman" panose="02020603050405020304" pitchFamily="18" charset="0"/>
                  </a:rPr>
                  <a:t>This is, of course, silly to do in practice, so we can do some </a:t>
                </a:r>
                <a:r>
                  <a:rPr lang="en-US" b="1" dirty="0">
                    <a:cs typeface="Times New Roman" panose="02020603050405020304" pitchFamily="18" charset="0"/>
                  </a:rPr>
                  <a:t>more theory </a:t>
                </a:r>
                <a:r>
                  <a:rPr lang="en-US" dirty="0">
                    <a:cs typeface="Times New Roman" panose="02020603050405020304" pitchFamily="18" charset="0"/>
                  </a:rPr>
                  <a:t>to </a:t>
                </a:r>
                <a:endParaRPr lang="en-US" b="1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941966-33CB-0269-6673-7E5F9B6685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3984" y="1753644"/>
                <a:ext cx="11110585" cy="4247911"/>
              </a:xfrm>
              <a:blipFill>
                <a:blip r:embed="rId2"/>
                <a:stretch>
                  <a:fillRect l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0192E-21FA-2F94-96F4-CE8B8CA58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08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26EF8C-5DD7-C2F9-0236-DD799E9EE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Some Extra Bits of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C939E2-5B90-0413-2095-74E2475371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6301" y="1885278"/>
                <a:ext cx="11223321" cy="4678183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Differentiation is diagonal in Fourier space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 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sup>
                      </m:sSup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 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Because the FFT is very efficient, the implementation of this algorithm goes back and forth from position space to Fourier space to make computations more efficient.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C939E2-5B90-0413-2095-74E2475371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6301" y="1885278"/>
                <a:ext cx="11223321" cy="4678183"/>
              </a:xfrm>
              <a:blipFill>
                <a:blip r:embed="rId2"/>
                <a:stretch>
                  <a:fillRect l="-1130" t="-15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297E5-EE43-E031-CD9B-2AE0193A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388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3C4986-2CD6-EABA-DFA3-CA39F75E43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12519"/>
                <a:ext cx="10515600" cy="546444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Some eigenvalues of L can be near zero, so you can implement a trick using contour integration and Cauchy’s Theorem to avoid singularities and catastrophic cancellation (ask about the extra trick I had to do!).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nary>
                        <m:naryPr>
                          <m:chr m:val="∮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e>
                      </m:nary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approximate with the trapezoidal rule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 ≈ 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​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𝑖𝑘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𝑖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  <m:r>
                            <m:rPr>
                              <m:lit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3C4986-2CD6-EABA-DFA3-CA39F75E43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12519"/>
                <a:ext cx="10515600" cy="5464444"/>
              </a:xfrm>
              <a:blipFill>
                <a:blip r:embed="rId2"/>
                <a:stretch>
                  <a:fillRect l="-1206" t="-5568" b="-23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615CE-B740-09AA-83D1-2F2D75A8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52EF1-A9A6-EC20-9DA2-1C318CAB2337}"/>
              </a:ext>
            </a:extLst>
          </p:cNvPr>
          <p:cNvSpPr txBox="1"/>
          <p:nvPr/>
        </p:nvSpPr>
        <p:spPr>
          <a:xfrm>
            <a:off x="5640779" y="29747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5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TDRK4_Solution copy">
            <a:hlinkClick r:id="" action="ppaction://media"/>
            <a:extLst>
              <a:ext uri="{FF2B5EF4-FFF2-40B4-BE49-F238E27FC236}">
                <a16:creationId xmlns:a16="http://schemas.microsoft.com/office/drawing/2014/main" id="{4EAE745C-4528-BAB5-275D-5052856C1AA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99322" y="-12087"/>
            <a:ext cx="9160952" cy="6870087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8EDF5-B8E7-1F39-22B9-E9E5C6D3F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5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TDRK4_Solution copy 2">
            <a:hlinkClick r:id="" action="ppaction://media"/>
            <a:extLst>
              <a:ext uri="{FF2B5EF4-FFF2-40B4-BE49-F238E27FC236}">
                <a16:creationId xmlns:a16="http://schemas.microsoft.com/office/drawing/2014/main" id="{CD7D4AC5-7831-1206-151F-1AB306874F1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3583" y="0"/>
            <a:ext cx="9144834" cy="6858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0BA7D-FDCD-D46B-95CE-3C0B5D24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8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9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TDRK4_Solution">
            <a:hlinkClick r:id="" action="ppaction://media"/>
            <a:extLst>
              <a:ext uri="{FF2B5EF4-FFF2-40B4-BE49-F238E27FC236}">
                <a16:creationId xmlns:a16="http://schemas.microsoft.com/office/drawing/2014/main" id="{6791CB3F-4B1D-84FD-4756-2499B26FCB4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78618" y="0"/>
            <a:ext cx="9135900" cy="68513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D89D7E-76B1-4785-F5D7-DDC2BA363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2235-2CA7-444E-9E54-40D4C32B8EE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9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17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1100</Words>
  <Application>Microsoft Macintosh PowerPoint</Application>
  <PresentationFormat>Widescreen</PresentationFormat>
  <Paragraphs>129</Paragraphs>
  <Slides>24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Times New Roman</vt:lpstr>
      <vt:lpstr>Office Theme</vt:lpstr>
      <vt:lpstr>Some Numerical Methods for Time-Dependent PDEs</vt:lpstr>
      <vt:lpstr>Intro and Motivation</vt:lpstr>
      <vt:lpstr>The Method of Lines: Theory</vt:lpstr>
      <vt:lpstr>PowerPoint Presentation</vt:lpstr>
      <vt:lpstr>PowerPoint Presentation</vt:lpstr>
      <vt:lpstr>PowerPoint Presentation</vt:lpstr>
      <vt:lpstr>PowerPoint Presentation</vt:lpstr>
      <vt:lpstr>Method of Lines: Results</vt:lpstr>
      <vt:lpstr>PowerPoint Presentation</vt:lpstr>
      <vt:lpstr>PowerPoint Presentation</vt:lpstr>
      <vt:lpstr>PowerPoint Presentation</vt:lpstr>
      <vt:lpstr>The Kuramoto-Sivashinsky Equation (KSE)</vt:lpstr>
      <vt:lpstr>Why no simulation yet?</vt:lpstr>
      <vt:lpstr>Exponential Time Difference RK4: Theory</vt:lpstr>
      <vt:lpstr>PowerPoint Presentation</vt:lpstr>
      <vt:lpstr>PowerPoint Presentation</vt:lpstr>
      <vt:lpstr>Some Things Before Moving Forward</vt:lpstr>
      <vt:lpstr>Our Quadrature Coefficients</vt:lpstr>
      <vt:lpstr>The Final Update Formula!</vt:lpstr>
      <vt:lpstr>Some Extra Bits of Theory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Potts, Michael (mdpotts43)</dc:creator>
  <cp:lastModifiedBy>Potts, Michael (mdpotts43)</cp:lastModifiedBy>
  <cp:revision>13</cp:revision>
  <dcterms:created xsi:type="dcterms:W3CDTF">2026-05-05T16:52:47Z</dcterms:created>
  <dcterms:modified xsi:type="dcterms:W3CDTF">2026-05-05T22:11:33Z</dcterms:modified>
</cp:coreProperties>
</file>